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Lst>
  <p:sldSz cx="9144000" cy="5143500" type="screen16x9"/>
  <p:notesSz cx="6797675" cy="9926638"/>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lcome" initials="W" lastIdx="1" clrIdx="0">
    <p:extLst>
      <p:ext uri="{19B8F6BF-5375-455C-9EA6-DF929625EA0E}">
        <p15:presenceInfo xmlns:p15="http://schemas.microsoft.com/office/powerpoint/2012/main" userId="61282dfa8d7af4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08"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11/3/2025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EDD62464-91D3-48B5-AF18-AC74D9BF9633}" type="datetime3">
              <a:rPr lang="en-US" smtClean="0"/>
              <a:t>3 November 2025</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smtClean="0"/>
              <a:t>EGB1201 – JAVA PROGRAMMING –PROJECT REVIEW 2 </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pPr>
              <a:defRPr/>
            </a:pPr>
            <a:fld id="{B6A9C998-94AD-4592-8E0C-5C5705351BB2}" type="datetime3">
              <a:rPr lang="en-US" smtClean="0"/>
              <a:t>3 November 2025</a:t>
            </a:fld>
            <a:endParaRPr lang="en-US" dirty="0"/>
          </a:p>
        </p:txBody>
      </p:sp>
      <p:sp>
        <p:nvSpPr>
          <p:cNvPr id="5" name="Footer Placeholder 4"/>
          <p:cNvSpPr>
            <a:spLocks noGrp="1"/>
          </p:cNvSpPr>
          <p:nvPr>
            <p:ph type="ftr" sz="quarter" idx="11"/>
          </p:nvPr>
        </p:nvSpPr>
        <p:spPr/>
        <p:txBody>
          <a:bodyPr/>
          <a:lstStyle/>
          <a:p>
            <a:pPr>
              <a:defRPr/>
            </a:pPr>
            <a:r>
              <a:rPr lang="en-US" smtClean="0"/>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E8339EB3-ACA5-47FD-8BD1-3F380C79EF14}" type="datetime3">
              <a:rPr lang="en-US" smtClean="0"/>
              <a:t>3 November 2025</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smtClean="0"/>
              <a:t>EGB1201 – JAVA PROGRAMMING –PROJECT REVIEW 2 </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pPr>
              <a:defRPr/>
            </a:pPr>
            <a:fld id="{EB3BC824-8250-46A4-97E9-1A69B2F2FB25}" type="datetime3">
              <a:rPr lang="en-US" smtClean="0"/>
              <a:t>3 November 2025</a:t>
            </a:fld>
            <a:endParaRPr lang="en-US" dirty="0"/>
          </a:p>
        </p:txBody>
      </p:sp>
      <p:sp>
        <p:nvSpPr>
          <p:cNvPr id="6" name="Footer Placeholder 5"/>
          <p:cNvSpPr>
            <a:spLocks noGrp="1"/>
          </p:cNvSpPr>
          <p:nvPr>
            <p:ph type="ftr" sz="quarter" idx="11"/>
          </p:nvPr>
        </p:nvSpPr>
        <p:spPr/>
        <p:txBody>
          <a:bodyPr/>
          <a:lstStyle/>
          <a:p>
            <a:pPr>
              <a:defRPr/>
            </a:pPr>
            <a:r>
              <a:rPr lang="en-US" smtClean="0"/>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pPr>
              <a:defRPr/>
            </a:pPr>
            <a:fld id="{1D371F4A-15B0-4739-9C96-5151473761C3}" type="datetime3">
              <a:rPr lang="en-US" smtClean="0"/>
              <a:t>3 November 2025</a:t>
            </a:fld>
            <a:endParaRPr lang="en-US" dirty="0"/>
          </a:p>
        </p:txBody>
      </p:sp>
      <p:sp>
        <p:nvSpPr>
          <p:cNvPr id="8" name="Footer Placeholder 7"/>
          <p:cNvSpPr>
            <a:spLocks noGrp="1"/>
          </p:cNvSpPr>
          <p:nvPr>
            <p:ph type="ftr" sz="quarter" idx="11"/>
          </p:nvPr>
        </p:nvSpPr>
        <p:spPr/>
        <p:txBody>
          <a:bodyPr/>
          <a:lstStyle/>
          <a:p>
            <a:pPr>
              <a:defRPr/>
            </a:pPr>
            <a:r>
              <a:rPr lang="en-US" smtClean="0"/>
              <a:t>EGB1201 – JAVA PROGRAMMING –PROJECT REVIEW 2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66B05E16-91CD-4D24-9E72-745C6AD013E1}" type="datetime3">
              <a:rPr lang="en-US" smtClean="0"/>
              <a:t>3 November 2025</a:t>
            </a:fld>
            <a:endParaRPr lang="en-US" dirty="0"/>
          </a:p>
        </p:txBody>
      </p:sp>
      <p:sp>
        <p:nvSpPr>
          <p:cNvPr id="4" name="Footer Placeholder 3"/>
          <p:cNvSpPr>
            <a:spLocks noGrp="1"/>
          </p:cNvSpPr>
          <p:nvPr>
            <p:ph type="ftr" sz="quarter" idx="11"/>
          </p:nvPr>
        </p:nvSpPr>
        <p:spPr/>
        <p:txBody>
          <a:bodyPr/>
          <a:lstStyle/>
          <a:p>
            <a:pPr>
              <a:defRPr/>
            </a:pPr>
            <a:r>
              <a:rPr lang="en-US" smtClean="0"/>
              <a:t>EGB1201 – JAVA PROGRAMMING –PROJECT REVIEW 2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45D060A-EFD9-4B22-932C-C42B599DBAF2}" type="datetime3">
              <a:rPr lang="en-US" smtClean="0"/>
              <a:t>3 November 2025</a:t>
            </a:fld>
            <a:endParaRPr lang="en-US" dirty="0"/>
          </a:p>
        </p:txBody>
      </p:sp>
      <p:sp>
        <p:nvSpPr>
          <p:cNvPr id="3" name="Footer Placeholder 2"/>
          <p:cNvSpPr>
            <a:spLocks noGrp="1"/>
          </p:cNvSpPr>
          <p:nvPr>
            <p:ph type="ftr" sz="quarter" idx="11"/>
          </p:nvPr>
        </p:nvSpPr>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60C5E58A-366D-42D7-BE35-2A21803AE55F}" type="datetime3">
              <a:rPr lang="en-US" smtClean="0"/>
              <a:t>3 November 2025</a:t>
            </a:fld>
            <a:endParaRPr lang="en-US" dirty="0"/>
          </a:p>
        </p:txBody>
      </p:sp>
      <p:sp>
        <p:nvSpPr>
          <p:cNvPr id="6" name="Footer Placeholder 5"/>
          <p:cNvSpPr>
            <a:spLocks noGrp="1"/>
          </p:cNvSpPr>
          <p:nvPr>
            <p:ph type="ftr" sz="quarter" idx="11"/>
          </p:nvPr>
        </p:nvSpPr>
        <p:spPr/>
        <p:txBody>
          <a:bodyPr/>
          <a:lstStyle/>
          <a:p>
            <a:pPr>
              <a:defRPr/>
            </a:pPr>
            <a:r>
              <a:rPr lang="en-US" smtClean="0"/>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99D38484-2184-434F-AC88-29FFE4A0AA9F}" type="datetime3">
              <a:rPr lang="en-US" smtClean="0"/>
              <a:t>3 November 2025</a:t>
            </a:fld>
            <a:endParaRPr lang="en-US" dirty="0"/>
          </a:p>
        </p:txBody>
      </p:sp>
      <p:sp>
        <p:nvSpPr>
          <p:cNvPr id="6" name="Footer Placeholder 5"/>
          <p:cNvSpPr>
            <a:spLocks noGrp="1"/>
          </p:cNvSpPr>
          <p:nvPr>
            <p:ph type="ftr" sz="quarter" idx="11"/>
          </p:nvPr>
        </p:nvSpPr>
        <p:spPr/>
        <p:txBody>
          <a:bodyPr/>
          <a:lstStyle/>
          <a:p>
            <a:pPr>
              <a:defRPr/>
            </a:pPr>
            <a:r>
              <a:rPr lang="en-US" smtClean="0"/>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539A3B33-C0B7-41A2-B02D-6B795B806535}" type="datetime3">
              <a:rPr lang="en-US" smtClean="0"/>
              <a:t>3 November 2025</a:t>
            </a:fld>
            <a:endParaRPr lang="en-US" dirty="0"/>
          </a:p>
        </p:txBody>
      </p:sp>
      <p:sp>
        <p:nvSpPr>
          <p:cNvPr id="5" name="Footer Placeholder 4"/>
          <p:cNvSpPr>
            <a:spLocks noGrp="1"/>
          </p:cNvSpPr>
          <p:nvPr>
            <p:ph type="ftr" sz="quarter" idx="11"/>
          </p:nvPr>
        </p:nvSpPr>
        <p:spPr/>
        <p:txBody>
          <a:bodyPr/>
          <a:lstStyle/>
          <a:p>
            <a:pPr>
              <a:defRPr/>
            </a:pPr>
            <a:r>
              <a:rPr lang="en-US" smtClean="0"/>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11E726FA-2B63-4917-AB28-C983D9D4464F}" type="datetime3">
              <a:rPr lang="en-US" smtClean="0"/>
              <a:t>3 November 2025</a:t>
            </a:fld>
            <a:endParaRPr lang="en-US" dirty="0"/>
          </a:p>
        </p:txBody>
      </p:sp>
      <p:sp>
        <p:nvSpPr>
          <p:cNvPr id="5" name="Footer Placeholder 4"/>
          <p:cNvSpPr>
            <a:spLocks noGrp="1"/>
          </p:cNvSpPr>
          <p:nvPr>
            <p:ph type="ftr" sz="quarter" idx="11"/>
          </p:nvPr>
        </p:nvSpPr>
        <p:spPr/>
        <p:txBody>
          <a:bodyPr/>
          <a:lstStyle/>
          <a:p>
            <a:pPr>
              <a:defRPr/>
            </a:pPr>
            <a:r>
              <a:rPr lang="en-US" smtClean="0"/>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F2B7BAF5-5BC0-49B1-9197-CD06326EE3BE}" type="datetime3">
              <a:rPr lang="en-US" smtClean="0"/>
              <a:t>3 November 2025</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smtClean="0"/>
              <a:t>EGB1201 – JAVA PROGRAMMING –PROJECT REVIEW 2 </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lstStyle/>
          <a:p>
            <a:pPr algn="ctr">
              <a:defRPr/>
            </a:pPr>
            <a:r>
              <a:rPr lang="en-IN" sz="2800" b="1" dirty="0" smtClean="0">
                <a:solidFill>
                  <a:schemeClr val="tx1"/>
                </a:solidFill>
                <a:latin typeface="Times New Roman" pitchFamily="18" charset="0"/>
                <a:cs typeface="Times New Roman" pitchFamily="18" charset="0"/>
              </a:rPr>
              <a:t>EGB1201 </a:t>
            </a:r>
            <a:r>
              <a:rPr lang="en-IN" sz="2800" b="1" dirty="0">
                <a:solidFill>
                  <a:schemeClr val="tx1"/>
                </a:solidFill>
                <a:latin typeface="Times New Roman" pitchFamily="18" charset="0"/>
                <a:cs typeface="Times New Roman" pitchFamily="18" charset="0"/>
              </a:rPr>
              <a:t>– </a:t>
            </a:r>
            <a:r>
              <a:rPr lang="en-IN" sz="2800" b="1" dirty="0" smtClean="0">
                <a:solidFill>
                  <a:schemeClr val="tx1"/>
                </a:solidFill>
                <a:latin typeface="Times New Roman" pitchFamily="18" charset="0"/>
                <a:cs typeface="Times New Roman" pitchFamily="18" charset="0"/>
              </a:rPr>
              <a:t>JAVA PROGRAMMING</a:t>
            </a:r>
            <a:br>
              <a:rPr lang="en-IN" sz="2800" b="1" dirty="0" smtClean="0">
                <a:solidFill>
                  <a:schemeClr val="tx1"/>
                </a:solidFill>
                <a:latin typeface="Times New Roman" pitchFamily="18" charset="0"/>
                <a:cs typeface="Times New Roman" pitchFamily="18" charset="0"/>
              </a:rPr>
            </a:br>
            <a:r>
              <a:rPr lang="en-IN" sz="2800" b="1" dirty="0" smtClean="0">
                <a:solidFill>
                  <a:schemeClr val="tx1"/>
                </a:solidFill>
                <a:latin typeface="Times New Roman" pitchFamily="18" charset="0"/>
                <a:cs typeface="Times New Roman" pitchFamily="18" charset="0"/>
              </a:rPr>
              <a:t>PROJECT REVIEW-2</a:t>
            </a:r>
            <a:endParaRPr lang="en-IN" sz="2800" b="1" dirty="0">
              <a:solidFill>
                <a:schemeClr val="tx1"/>
              </a:solidFill>
              <a:latin typeface="Times New Roman" pitchFamily="18" charset="0"/>
              <a:cs typeface="Times New Roman" pitchFamily="18" charset="0"/>
            </a:endParaRPr>
          </a:p>
        </p:txBody>
      </p:sp>
      <p:sp>
        <p:nvSpPr>
          <p:cNvPr id="7" name="Footer Placeholder 4"/>
          <p:cNvSpPr txBox="1">
            <a:spLocks/>
          </p:cNvSpPr>
          <p:nvPr/>
        </p:nvSpPr>
        <p:spPr>
          <a:xfrm>
            <a:off x="762000" y="965771"/>
            <a:ext cx="7772400" cy="3801491"/>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endParaRPr lang="en-US" sz="2500" b="1" dirty="0" smtClean="0">
              <a:latin typeface="Times New Roman" pitchFamily="18" charset="0"/>
              <a:cs typeface="Times New Roman" pitchFamily="18" charset="0"/>
            </a:endParaRPr>
          </a:p>
          <a:p>
            <a:pPr algn="ctr">
              <a:defRPr/>
            </a:pPr>
            <a:r>
              <a:rPr lang="en-US" sz="2500" b="1" dirty="0" smtClean="0">
                <a:solidFill>
                  <a:schemeClr val="tx1"/>
                </a:solidFill>
                <a:latin typeface="Times New Roman" pitchFamily="18" charset="0"/>
                <a:cs typeface="Times New Roman" pitchFamily="18" charset="0"/>
              </a:rPr>
              <a:t>Department of Electrical and Electronics Engineering</a:t>
            </a:r>
          </a:p>
          <a:p>
            <a:pPr algn="ctr">
              <a:defRPr/>
            </a:pPr>
            <a:r>
              <a:rPr lang="en-US" sz="2500" b="1" dirty="0" smtClean="0">
                <a:solidFill>
                  <a:schemeClr val="tx1"/>
                </a:solidFill>
                <a:latin typeface="Times New Roman" pitchFamily="18" charset="0"/>
                <a:cs typeface="Times New Roman" pitchFamily="18" charset="0"/>
              </a:rPr>
              <a:t>Academic </a:t>
            </a:r>
            <a:r>
              <a:rPr lang="en-US" sz="2500" b="1" dirty="0">
                <a:solidFill>
                  <a:schemeClr val="tx1"/>
                </a:solidFill>
                <a:latin typeface="Times New Roman" pitchFamily="18" charset="0"/>
                <a:cs typeface="Times New Roman" pitchFamily="18" charset="0"/>
              </a:rPr>
              <a:t>Year: </a:t>
            </a:r>
            <a:r>
              <a:rPr lang="en-US" sz="2500" b="1" dirty="0" smtClean="0">
                <a:solidFill>
                  <a:schemeClr val="tx1"/>
                </a:solidFill>
                <a:latin typeface="Times New Roman" pitchFamily="18" charset="0"/>
                <a:cs typeface="Times New Roman" pitchFamily="18" charset="0"/>
              </a:rPr>
              <a:t>2025 </a:t>
            </a:r>
            <a:r>
              <a:rPr lang="en-US" sz="2500" b="1" dirty="0">
                <a:solidFill>
                  <a:schemeClr val="tx1"/>
                </a:solidFill>
                <a:latin typeface="Times New Roman" pitchFamily="18" charset="0"/>
                <a:cs typeface="Times New Roman" pitchFamily="18" charset="0"/>
              </a:rPr>
              <a:t>– </a:t>
            </a:r>
            <a:r>
              <a:rPr lang="en-US" sz="2500" b="1" dirty="0" smtClean="0">
                <a:solidFill>
                  <a:schemeClr val="tx1"/>
                </a:solidFill>
                <a:latin typeface="Times New Roman" pitchFamily="18" charset="0"/>
                <a:cs typeface="Times New Roman" pitchFamily="18" charset="0"/>
              </a:rPr>
              <a:t>2026 (Odd Semester)</a:t>
            </a:r>
            <a:endParaRPr lang="en-US" sz="2500" b="1" dirty="0">
              <a:solidFill>
                <a:schemeClr val="tx1"/>
              </a:solidFill>
              <a:latin typeface="Times New Roman" pitchFamily="18" charset="0"/>
              <a:cs typeface="Times New Roman" pitchFamily="18" charset="0"/>
            </a:endParaRPr>
          </a:p>
          <a:p>
            <a:pPr algn="ctr">
              <a:defRPr/>
            </a:pPr>
            <a:endParaRPr lang="en-US" sz="2500" b="1" dirty="0">
              <a:solidFill>
                <a:schemeClr val="tx1"/>
              </a:solidFill>
              <a:latin typeface="Times New Roman" pitchFamily="18" charset="0"/>
              <a:cs typeface="Times New Roman" pitchFamily="18" charset="0"/>
            </a:endParaRPr>
          </a:p>
          <a:p>
            <a:pPr>
              <a:defRPr/>
            </a:pPr>
            <a:r>
              <a:rPr lang="en-US" sz="2500" b="1" dirty="0" smtClean="0">
                <a:solidFill>
                  <a:schemeClr val="tx1"/>
                </a:solidFill>
                <a:latin typeface="Times New Roman" pitchFamily="18" charset="0"/>
                <a:cs typeface="Times New Roman" pitchFamily="18" charset="0"/>
              </a:rPr>
              <a:t>Register </a:t>
            </a:r>
            <a:r>
              <a:rPr lang="en-US" sz="2500" b="1" dirty="0">
                <a:solidFill>
                  <a:schemeClr val="tx1"/>
                </a:solidFill>
                <a:latin typeface="Times New Roman" pitchFamily="18" charset="0"/>
                <a:cs typeface="Times New Roman" pitchFamily="18" charset="0"/>
              </a:rPr>
              <a:t>Number	</a:t>
            </a:r>
            <a:r>
              <a:rPr lang="en-US" sz="2500" b="1" dirty="0" smtClean="0">
                <a:solidFill>
                  <a:schemeClr val="tx1"/>
                </a:solidFill>
                <a:latin typeface="Times New Roman" pitchFamily="18" charset="0"/>
                <a:cs typeface="Times New Roman" pitchFamily="18" charset="0"/>
              </a:rPr>
              <a:t>:</a:t>
            </a:r>
            <a:r>
              <a:rPr lang="en-US" sz="2000" b="1" dirty="0" smtClean="0">
                <a:solidFill>
                  <a:schemeClr val="tx1"/>
                </a:solidFill>
                <a:latin typeface="Times New Roman" pitchFamily="18" charset="0"/>
                <a:cs typeface="Times New Roman" pitchFamily="18" charset="0"/>
              </a:rPr>
              <a:t>92724BEE057</a:t>
            </a:r>
            <a:endParaRPr lang="en-US" sz="2000" b="1" dirty="0">
              <a:solidFill>
                <a:schemeClr val="tx1"/>
              </a:solidFill>
              <a:latin typeface="Times New Roman" pitchFamily="18" charset="0"/>
              <a:cs typeface="Times New Roman" pitchFamily="18" charset="0"/>
            </a:endParaRPr>
          </a:p>
          <a:p>
            <a:pPr>
              <a:defRPr/>
            </a:pPr>
            <a:r>
              <a:rPr lang="en-US" sz="2500" b="1" dirty="0">
                <a:solidFill>
                  <a:schemeClr val="tx1"/>
                </a:solidFill>
                <a:latin typeface="Times New Roman" pitchFamily="18" charset="0"/>
                <a:cs typeface="Times New Roman" pitchFamily="18" charset="0"/>
              </a:rPr>
              <a:t>Name					</a:t>
            </a:r>
            <a:r>
              <a:rPr lang="en-US" sz="2500" b="1" dirty="0" smtClean="0">
                <a:solidFill>
                  <a:schemeClr val="tx1"/>
                </a:solidFill>
                <a:latin typeface="Times New Roman" pitchFamily="18" charset="0"/>
                <a:cs typeface="Times New Roman" pitchFamily="18" charset="0"/>
              </a:rPr>
              <a:t>:</a:t>
            </a:r>
            <a:r>
              <a:rPr lang="en-US" sz="2000" b="1" dirty="0" smtClean="0">
                <a:solidFill>
                  <a:schemeClr val="tx1"/>
                </a:solidFill>
                <a:latin typeface="Times New Roman" pitchFamily="18" charset="0"/>
                <a:cs typeface="Times New Roman" pitchFamily="18" charset="0"/>
              </a:rPr>
              <a:t>LIBIKA S</a:t>
            </a:r>
            <a:endParaRPr lang="en-US" sz="2000" b="1" dirty="0" smtClean="0">
              <a:solidFill>
                <a:schemeClr val="tx1"/>
              </a:solidFill>
              <a:latin typeface="Times New Roman" pitchFamily="18" charset="0"/>
              <a:cs typeface="Times New Roman" pitchFamily="18" charset="0"/>
            </a:endParaRPr>
          </a:p>
          <a:p>
            <a:pPr>
              <a:defRPr/>
            </a:pPr>
            <a:r>
              <a:rPr lang="en-US" sz="2500" b="1" dirty="0" smtClean="0">
                <a:solidFill>
                  <a:schemeClr val="tx1"/>
                </a:solidFill>
                <a:latin typeface="Times New Roman" pitchFamily="18" charset="0"/>
                <a:cs typeface="Times New Roman" pitchFamily="18" charset="0"/>
              </a:rPr>
              <a:t>Year					</a:t>
            </a:r>
            <a:r>
              <a:rPr lang="en-US" sz="2500" b="1" dirty="0">
                <a:solidFill>
                  <a:schemeClr val="tx1"/>
                </a:solidFill>
                <a:latin typeface="Times New Roman" pitchFamily="18" charset="0"/>
                <a:cs typeface="Times New Roman" pitchFamily="18" charset="0"/>
              </a:rPr>
              <a:t>: </a:t>
            </a:r>
            <a:r>
              <a:rPr lang="en-US" sz="2000" b="1" dirty="0" smtClean="0">
                <a:solidFill>
                  <a:schemeClr val="tx1"/>
                </a:solidFill>
                <a:latin typeface="Times New Roman" pitchFamily="18" charset="0"/>
                <a:cs typeface="Times New Roman" pitchFamily="18" charset="0"/>
              </a:rPr>
              <a:t>II</a:t>
            </a:r>
            <a:endParaRPr lang="en-US" sz="2000" b="1" dirty="0" smtClean="0">
              <a:solidFill>
                <a:schemeClr val="tx1"/>
              </a:solidFill>
              <a:latin typeface="Times New Roman" pitchFamily="18" charset="0"/>
              <a:cs typeface="Times New Roman" pitchFamily="18" charset="0"/>
            </a:endParaRPr>
          </a:p>
          <a:p>
            <a:pPr>
              <a:defRPr/>
            </a:pPr>
            <a:r>
              <a:rPr lang="en-US" sz="2500" b="1" dirty="0" smtClean="0">
                <a:solidFill>
                  <a:schemeClr val="tx1"/>
                </a:solidFill>
                <a:latin typeface="Times New Roman" pitchFamily="18" charset="0"/>
                <a:cs typeface="Times New Roman" pitchFamily="18" charset="0"/>
              </a:rPr>
              <a:t>Semester				</a:t>
            </a:r>
            <a:r>
              <a:rPr lang="en-US" sz="2500" b="1" dirty="0" smtClean="0">
                <a:solidFill>
                  <a:schemeClr val="tx1"/>
                </a:solidFill>
                <a:latin typeface="Times New Roman" pitchFamily="18" charset="0"/>
                <a:cs typeface="Times New Roman" pitchFamily="18" charset="0"/>
              </a:rPr>
              <a:t>: </a:t>
            </a:r>
            <a:r>
              <a:rPr lang="en-US" sz="2000" b="1" dirty="0" smtClean="0">
                <a:solidFill>
                  <a:schemeClr val="tx1"/>
                </a:solidFill>
                <a:latin typeface="Times New Roman" pitchFamily="18" charset="0"/>
                <a:cs typeface="Times New Roman" pitchFamily="18" charset="0"/>
              </a:rPr>
              <a:t>III</a:t>
            </a:r>
            <a:endParaRPr lang="en-US" sz="2000" b="1" dirty="0" smtClean="0">
              <a:solidFill>
                <a:schemeClr val="tx1"/>
              </a:solidFill>
              <a:latin typeface="Times New Roman" pitchFamily="18" charset="0"/>
              <a:cs typeface="Times New Roman" pitchFamily="18" charset="0"/>
            </a:endParaRPr>
          </a:p>
          <a:p>
            <a:pPr>
              <a:defRPr/>
            </a:pPr>
            <a:r>
              <a:rPr lang="en-US" sz="2500" b="1" dirty="0" smtClean="0">
                <a:solidFill>
                  <a:schemeClr val="tx1"/>
                </a:solidFill>
                <a:latin typeface="Times New Roman" pitchFamily="18" charset="0"/>
                <a:cs typeface="Times New Roman" pitchFamily="18" charset="0"/>
              </a:rPr>
              <a:t>Section</a:t>
            </a:r>
            <a:r>
              <a:rPr lang="en-US" sz="2500" b="1" dirty="0" smtClean="0">
                <a:solidFill>
                  <a:schemeClr val="tx1"/>
                </a:solidFill>
                <a:latin typeface="Times New Roman" pitchFamily="18" charset="0"/>
                <a:cs typeface="Times New Roman" pitchFamily="18" charset="0"/>
              </a:rPr>
              <a:t>				</a:t>
            </a:r>
            <a:r>
              <a:rPr lang="en-US" sz="2500" b="1" dirty="0" smtClean="0">
                <a:solidFill>
                  <a:schemeClr val="tx1"/>
                </a:solidFill>
                <a:latin typeface="Times New Roman" pitchFamily="18" charset="0"/>
                <a:cs typeface="Times New Roman" pitchFamily="18" charset="0"/>
              </a:rPr>
              <a:t>: </a:t>
            </a:r>
            <a:r>
              <a:rPr lang="en-US" sz="2000" b="1" dirty="0" smtClean="0">
                <a:solidFill>
                  <a:schemeClr val="tx1"/>
                </a:solidFill>
                <a:latin typeface="Times New Roman" pitchFamily="18" charset="0"/>
                <a:cs typeface="Times New Roman" pitchFamily="18" charset="0"/>
              </a:rPr>
              <a:t>A</a:t>
            </a:r>
            <a:endParaRPr lang="en-US" sz="2000" b="1" dirty="0">
              <a:solidFill>
                <a:schemeClr val="tx1"/>
              </a:solidFill>
              <a:latin typeface="Times New Roman" pitchFamily="18" charset="0"/>
              <a:cs typeface="Times New Roman" pitchFamily="18" charset="0"/>
            </a:endParaRPr>
          </a:p>
          <a:p>
            <a:pPr>
              <a:defRPr/>
            </a:pPr>
            <a:r>
              <a:rPr lang="en-US" sz="2500" b="1" dirty="0" smtClean="0">
                <a:solidFill>
                  <a:schemeClr val="tx1"/>
                </a:solidFill>
                <a:latin typeface="Times New Roman" pitchFamily="18" charset="0"/>
                <a:cs typeface="Times New Roman" pitchFamily="18" charset="0"/>
              </a:rPr>
              <a:t>Date					</a:t>
            </a:r>
            <a:r>
              <a:rPr lang="en-US" sz="2500" b="1" dirty="0" smtClean="0">
                <a:solidFill>
                  <a:schemeClr val="tx1"/>
                </a:solidFill>
                <a:latin typeface="Times New Roman" pitchFamily="18" charset="0"/>
                <a:cs typeface="Times New Roman" pitchFamily="18" charset="0"/>
              </a:rPr>
              <a:t>:</a:t>
            </a:r>
            <a:r>
              <a:rPr lang="en-US" sz="2000" b="1" dirty="0" smtClean="0">
                <a:solidFill>
                  <a:schemeClr val="tx1"/>
                </a:solidFill>
                <a:latin typeface="Times New Roman" pitchFamily="18" charset="0"/>
                <a:cs typeface="Times New Roman" pitchFamily="18" charset="0"/>
              </a:rPr>
              <a:t>04.11.2025</a:t>
            </a:r>
            <a:endParaRPr lang="en-US" sz="20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pPr>
                <a:defRPr/>
              </a:pPr>
              <a:t>1</a:t>
            </a:fld>
            <a:endParaRPr lang="en-US" altLang="en-US"/>
          </a:p>
        </p:txBody>
      </p:sp>
      <p:sp>
        <p:nvSpPr>
          <p:cNvPr id="5" name="Footer Placeholder 4"/>
          <p:cNvSpPr>
            <a:spLocks noGrp="1"/>
          </p:cNvSpPr>
          <p:nvPr>
            <p:ph type="ftr" sz="quarter" idx="11"/>
          </p:nvPr>
        </p:nvSpPr>
        <p:spPr>
          <a:xfrm>
            <a:off x="2438400" y="4767262"/>
            <a:ext cx="5029200" cy="376238"/>
          </a:xfrm>
        </p:spPr>
        <p:txBody>
          <a:bodyPr/>
          <a:lstStyle/>
          <a:p>
            <a:pPr>
              <a:defRPr/>
            </a:pPr>
            <a:r>
              <a:rPr lang="en-US" dirty="0" smtClean="0"/>
              <a:t>EGB1201 – JAVA PROGRAMMING –PROJECT REVIEW 2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7E05917E-1459-9543-BDC1-EB6757DCCC2B}"/>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 xmlns:a16="http://schemas.microsoft.com/office/drawing/2014/main" id="{A59926A3-D6DE-BF77-88C6-09EA205A58DB}"/>
              </a:ext>
            </a:extLst>
          </p:cNvPr>
          <p:cNvSpPr>
            <a:spLocks noGrp="1"/>
          </p:cNvSpPr>
          <p:nvPr>
            <p:ph type="ftr" sz="quarter" idx="11"/>
          </p:nvPr>
        </p:nvSpPr>
        <p:spPr>
          <a:xfrm>
            <a:off x="2438400" y="4767263"/>
            <a:ext cx="4340352"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 xmlns:a16="http://schemas.microsoft.com/office/drawing/2014/main" id="{65894BDA-3057-096C-18BB-A0D0D182A5A7}"/>
              </a:ext>
            </a:extLst>
          </p:cNvPr>
          <p:cNvSpPr>
            <a:spLocks noGrp="1"/>
          </p:cNvSpPr>
          <p:nvPr>
            <p:ph sz="quarter" idx="1"/>
          </p:nvPr>
        </p:nvSpPr>
        <p:spPr>
          <a:xfrm>
            <a:off x="457200" y="914400"/>
            <a:ext cx="8229600" cy="3703320"/>
          </a:xfrm>
        </p:spPr>
        <p:txBody>
          <a:bodyPr/>
          <a:lstStyle/>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ctr"/>
            <a:r>
              <a:rPr lang="en-US" sz="2400" b="1" dirty="0" smtClean="0">
                <a:latin typeface="Times New Roman" pitchFamily="18" charset="0"/>
                <a:cs typeface="Times New Roman" pitchFamily="18" charset="0"/>
              </a:rPr>
              <a:t>BLOOD DONATION MANAGEMENT SYSTEM</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5CB552-9064-2022-2FE6-8CF056A213C6}"/>
              </a:ext>
            </a:extLst>
          </p:cNvPr>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Abstract</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 xmlns:a16="http://schemas.microsoft.com/office/drawing/2014/main" id="{9F403579-F0D1-E1A9-9626-90D255E99861}"/>
              </a:ext>
            </a:extLst>
          </p:cNvPr>
          <p:cNvSpPr>
            <a:spLocks noGrp="1"/>
          </p:cNvSpPr>
          <p:nvPr>
            <p:ph type="ftr" sz="quarter" idx="11"/>
          </p:nvPr>
        </p:nvSpPr>
        <p:spPr>
          <a:xfrm>
            <a:off x="2514600" y="4767263"/>
            <a:ext cx="4191000"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
        <p:nvSpPr>
          <p:cNvPr id="3" name="Content Placeholder 2">
            <a:extLst>
              <a:ext uri="{FF2B5EF4-FFF2-40B4-BE49-F238E27FC236}">
                <a16:creationId xmlns="" xmlns:a16="http://schemas.microsoft.com/office/drawing/2014/main" id="{65894BDA-3057-096C-18BB-A0D0D182A5A7}"/>
              </a:ext>
            </a:extLst>
          </p:cNvPr>
          <p:cNvSpPr>
            <a:spLocks noGrp="1"/>
          </p:cNvSpPr>
          <p:nvPr>
            <p:ph sz="quarter" idx="1"/>
          </p:nvPr>
        </p:nvSpPr>
        <p:spPr>
          <a:xfrm>
            <a:off x="457200" y="1417834"/>
            <a:ext cx="8229600" cy="3199886"/>
          </a:xfrm>
        </p:spPr>
        <p:txBody>
          <a:bodyPr>
            <a:normAutofit/>
          </a:bodyPr>
          <a:lstStyle/>
          <a:p>
            <a:r>
              <a:rPr lang="en-US" sz="1800" dirty="0">
                <a:latin typeface="Times New Roman" panose="02020603050405020304" pitchFamily="18" charset="0"/>
                <a:cs typeface="Times New Roman" panose="02020603050405020304" pitchFamily="18" charset="0"/>
              </a:rPr>
              <a:t>A Java-based Blood Donation Management App designed for hospitals and </a:t>
            </a:r>
            <a:r>
              <a:rPr lang="en-US" sz="1800" dirty="0" smtClean="0">
                <a:latin typeface="Times New Roman" panose="02020603050405020304" pitchFamily="18" charset="0"/>
                <a:cs typeface="Times New Roman" panose="02020603050405020304" pitchFamily="18" charset="0"/>
              </a:rPr>
              <a:t>donors. Manages </a:t>
            </a:r>
            <a:r>
              <a:rPr lang="en-US" sz="1800" dirty="0">
                <a:latin typeface="Times New Roman" panose="02020603050405020304" pitchFamily="18" charset="0"/>
                <a:cs typeface="Times New Roman" panose="02020603050405020304" pitchFamily="18" charset="0"/>
              </a:rPr>
              <a:t>donor details, blood stock, and hospital requests </a:t>
            </a:r>
            <a:r>
              <a:rPr lang="en-US" sz="1800" dirty="0" smtClean="0">
                <a:latin typeface="Times New Roman" panose="02020603050405020304" pitchFamily="18" charset="0"/>
                <a:cs typeface="Times New Roman" panose="02020603050405020304" pitchFamily="18" charset="0"/>
              </a:rPr>
              <a:t>efficiently. Reduces </a:t>
            </a:r>
            <a:r>
              <a:rPr lang="en-US" sz="1800" dirty="0">
                <a:latin typeface="Times New Roman" panose="02020603050405020304" pitchFamily="18" charset="0"/>
                <a:cs typeface="Times New Roman" panose="02020603050405020304" pitchFamily="18" charset="0"/>
              </a:rPr>
              <a:t>manual errors and speeds up emergency blood </a:t>
            </a:r>
            <a:r>
              <a:rPr lang="en-US" sz="1800" dirty="0" smtClean="0">
                <a:latin typeface="Times New Roman" panose="02020603050405020304" pitchFamily="18" charset="0"/>
                <a:cs typeface="Times New Roman" panose="02020603050405020304" pitchFamily="18" charset="0"/>
              </a:rPr>
              <a:t> availability. Improves </a:t>
            </a:r>
            <a:r>
              <a:rPr lang="en-US" sz="1800" dirty="0">
                <a:latin typeface="Times New Roman" panose="02020603050405020304" pitchFamily="18" charset="0"/>
                <a:cs typeface="Times New Roman" panose="02020603050405020304" pitchFamily="18" charset="0"/>
              </a:rPr>
              <a:t>data accuracy and ensures quick, reliable access to blood information.</a:t>
            </a:r>
          </a:p>
          <a:p>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 xmlns:a16="http://schemas.microsoft.com/office/drawing/2014/main" id="{B41D2982-5921-8820-6121-B327A76C2313}"/>
              </a:ext>
            </a:extLst>
          </p:cNvPr>
          <p:cNvSpPr>
            <a:spLocks noGrp="1"/>
          </p:cNvSpPr>
          <p:nvPr>
            <p:ph type="title"/>
          </p:nvPr>
        </p:nvSpPr>
        <p:spPr>
          <a:xfrm>
            <a:off x="685800" y="171450"/>
            <a:ext cx="8001000" cy="4953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Abstract with CO/PO Mapping</a:t>
            </a:r>
            <a:endParaRPr lang="en-IN" sz="4000" b="1" dirty="0">
              <a:solidFill>
                <a:schemeClr val="tx1"/>
              </a:solidFill>
              <a:latin typeface="Times New Roman" pitchFamily="18" charset="0"/>
              <a:cs typeface="Times New Roman" pitchFamily="18" charset="0"/>
            </a:endParaRPr>
          </a:p>
        </p:txBody>
      </p:sp>
      <p:sp>
        <p:nvSpPr>
          <p:cNvPr id="6" name="Footer Placeholder 5">
            <a:extLst>
              <a:ext uri="{FF2B5EF4-FFF2-40B4-BE49-F238E27FC236}">
                <a16:creationId xmlns="" xmlns:a16="http://schemas.microsoft.com/office/drawing/2014/main" id="{0DFA7D47-ED00-F80D-DBCB-FE3C2E8CD979}"/>
              </a:ext>
            </a:extLst>
          </p:cNvPr>
          <p:cNvSpPr>
            <a:spLocks noGrp="1"/>
          </p:cNvSpPr>
          <p:nvPr>
            <p:ph type="ftr" sz="quarter" idx="11"/>
          </p:nvPr>
        </p:nvSpPr>
        <p:spPr>
          <a:xfrm>
            <a:off x="2819400" y="4767263"/>
            <a:ext cx="4114800"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4</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4086817709"/>
              </p:ext>
            </p:extLst>
          </p:nvPr>
        </p:nvGraphicFramePr>
        <p:xfrm>
          <a:off x="533400" y="1123950"/>
          <a:ext cx="8153400" cy="3238502"/>
        </p:xfrm>
        <a:graphic>
          <a:graphicData uri="http://schemas.openxmlformats.org/drawingml/2006/table">
            <a:tbl>
              <a:tblPr firstRow="1" bandRow="1">
                <a:tableStyleId>{5C22544A-7EE6-4342-B048-85BDC9FD1C3A}</a:tableStyleId>
              </a:tblPr>
              <a:tblGrid>
                <a:gridCol w="5715000">
                  <a:extLst>
                    <a:ext uri="{9D8B030D-6E8A-4147-A177-3AD203B41FA5}">
                      <a16:colId xmlns="" xmlns:a16="http://schemas.microsoft.com/office/drawing/2014/main" val="20000"/>
                    </a:ext>
                  </a:extLst>
                </a:gridCol>
                <a:gridCol w="838200">
                  <a:extLst>
                    <a:ext uri="{9D8B030D-6E8A-4147-A177-3AD203B41FA5}">
                      <a16:colId xmlns="" xmlns:a16="http://schemas.microsoft.com/office/drawing/2014/main" val="20001"/>
                    </a:ext>
                  </a:extLst>
                </a:gridCol>
                <a:gridCol w="914400">
                  <a:extLst>
                    <a:ext uri="{9D8B030D-6E8A-4147-A177-3AD203B41FA5}">
                      <a16:colId xmlns="" xmlns:a16="http://schemas.microsoft.com/office/drawing/2014/main" val="20002"/>
                    </a:ext>
                  </a:extLst>
                </a:gridCol>
                <a:gridCol w="685800">
                  <a:extLst>
                    <a:ext uri="{9D8B030D-6E8A-4147-A177-3AD203B41FA5}">
                      <a16:colId xmlns="" xmlns:a16="http://schemas.microsoft.com/office/drawing/2014/main" val="20003"/>
                    </a:ext>
                  </a:extLst>
                </a:gridCol>
              </a:tblGrid>
              <a:tr h="438734">
                <a:tc>
                  <a:txBody>
                    <a:bodyPr/>
                    <a:lstStyle/>
                    <a:p>
                      <a:pPr algn="ctr"/>
                      <a:r>
                        <a:rPr lang="en-US" sz="1800" dirty="0">
                          <a:solidFill>
                            <a:schemeClr val="tx1"/>
                          </a:solidFill>
                          <a:latin typeface="Times New Roman" pitchFamily="18" charset="0"/>
                          <a:cs typeface="Times New Roman" pitchFamily="18" charset="0"/>
                        </a:rPr>
                        <a:t>Abstract</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CO</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POs</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PSO</a:t>
                      </a:r>
                    </a:p>
                  </a:txBody>
                  <a:tcPr>
                    <a:solidFill>
                      <a:schemeClr val="bg2"/>
                    </a:solidFill>
                  </a:tcPr>
                </a:tc>
                <a:extLst>
                  <a:ext uri="{0D108BD9-81ED-4DB2-BD59-A6C34878D82A}">
                    <a16:rowId xmlns="" xmlns:a16="http://schemas.microsoft.com/office/drawing/2014/main" val="10000"/>
                  </a:ext>
                </a:extLst>
              </a:tr>
              <a:tr h="2799768">
                <a:tc>
                  <a:txBody>
                    <a:bodyPr/>
                    <a:lstStyle/>
                    <a:p>
                      <a:r>
                        <a:rPr lang="en-US" sz="1800" dirty="0" smtClean="0">
                          <a:latin typeface="Times New Roman" panose="02020603050405020304" pitchFamily="18" charset="0"/>
                          <a:cs typeface="Times New Roman" panose="02020603050405020304" pitchFamily="18" charset="0"/>
                        </a:rPr>
                        <a:t>A </a:t>
                      </a:r>
                      <a:r>
                        <a:rPr lang="en-US" sz="1800" i="0" dirty="0" smtClean="0">
                          <a:latin typeface="Times New Roman" panose="02020603050405020304" pitchFamily="18" charset="0"/>
                          <a:cs typeface="Times New Roman" panose="02020603050405020304" pitchFamily="18" charset="0"/>
                        </a:rPr>
                        <a:t>Java-based Blood Donation Management App </a:t>
                      </a:r>
                      <a:r>
                        <a:rPr lang="en-US" sz="1800" dirty="0" smtClean="0">
                          <a:latin typeface="Times New Roman" panose="02020603050405020304" pitchFamily="18" charset="0"/>
                          <a:cs typeface="Times New Roman" panose="02020603050405020304" pitchFamily="18" charset="0"/>
                        </a:rPr>
                        <a:t>designed for hospitals and donors. Manages donor details, blood stock, and hospital requests efficiently. Reduces manual errors and speeds up emergency blood availability. Improves data accuracy and ensures quick, reliable access to blood information.</a:t>
                      </a:r>
                    </a:p>
                    <a:p>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endParaRPr lang="en-US" sz="1800" dirty="0">
                        <a:solidFill>
                          <a:schemeClr val="tx1"/>
                        </a:solidFill>
                        <a:latin typeface="Times New Roman" pitchFamily="18" charset="0"/>
                        <a:cs typeface="Times New Roman" pitchFamily="18" charset="0"/>
                      </a:endParaRPr>
                    </a:p>
                  </a:txBody>
                  <a:tcPr>
                    <a:solidFill>
                      <a:schemeClr val="bg2"/>
                    </a:solidFill>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11621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DF4323-5210-80A9-6891-2FD74992CE91}"/>
              </a:ext>
            </a:extLst>
          </p:cNvPr>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smtClean="0">
                <a:solidFill>
                  <a:schemeClr val="tx1"/>
                </a:solidFill>
                <a:latin typeface="Times New Roman" pitchFamily="18" charset="0"/>
                <a:cs typeface="Times New Roman" pitchFamily="18" charset="0"/>
              </a:rPr>
              <a:t>Introduction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 xmlns:a16="http://schemas.microsoft.com/office/drawing/2014/main" id="{CC405221-347E-9CCD-BA88-4C53ECC3746E}"/>
              </a:ext>
            </a:extLst>
          </p:cNvPr>
          <p:cNvSpPr>
            <a:spLocks noGrp="1"/>
          </p:cNvSpPr>
          <p:nvPr>
            <p:ph type="ftr" sz="quarter" idx="11"/>
          </p:nvPr>
        </p:nvSpPr>
        <p:spPr>
          <a:xfrm>
            <a:off x="2743200" y="4767263"/>
            <a:ext cx="4114800"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
        <p:nvSpPr>
          <p:cNvPr id="3" name="Content Placeholder 2">
            <a:extLst>
              <a:ext uri="{FF2B5EF4-FFF2-40B4-BE49-F238E27FC236}">
                <a16:creationId xmlns="" xmlns:a16="http://schemas.microsoft.com/office/drawing/2014/main" id="{5753BF69-1C78-F823-3EFC-69FA8564C97F}"/>
              </a:ext>
            </a:extLst>
          </p:cNvPr>
          <p:cNvSpPr>
            <a:spLocks noGrp="1"/>
          </p:cNvSpPr>
          <p:nvPr>
            <p:ph sz="quarter" idx="1"/>
          </p:nvPr>
        </p:nvSpPr>
        <p:spPr>
          <a:xfrm>
            <a:off x="457200" y="1356188"/>
            <a:ext cx="8229600" cy="3261531"/>
          </a:xfrm>
        </p:spPr>
        <p:txBody>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Java-based Blood Donation Management App developed to help hospitals and donors.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Handles donor registration, blood stock updates, and hospital blood requests.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Created using </a:t>
            </a:r>
            <a:r>
              <a:rPr lang="en-US" sz="1800" b="1" dirty="0">
                <a:latin typeface="Times New Roman" panose="02020603050405020304" pitchFamily="18" charset="0"/>
                <a:cs typeface="Times New Roman" panose="02020603050405020304" pitchFamily="18" charset="0"/>
              </a:rPr>
              <a:t>Java</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MySQL</a:t>
            </a:r>
            <a:r>
              <a:rPr lang="en-US" sz="1800" dirty="0">
                <a:latin typeface="Times New Roman" panose="02020603050405020304" pitchFamily="18" charset="0"/>
                <a:cs typeface="Times New Roman" panose="02020603050405020304" pitchFamily="18" charset="0"/>
              </a:rPr>
              <a:t>, and a </a:t>
            </a:r>
            <a:r>
              <a:rPr lang="en-US" sz="1800" b="1" dirty="0">
                <a:latin typeface="Times New Roman" panose="02020603050405020304" pitchFamily="18" charset="0"/>
                <a:cs typeface="Times New Roman" panose="02020603050405020304" pitchFamily="18" charset="0"/>
              </a:rPr>
              <a:t>simple GUI (Swing/</a:t>
            </a:r>
            <a:r>
              <a:rPr lang="en-US" sz="1800" b="1" dirty="0" err="1">
                <a:latin typeface="Times New Roman" panose="02020603050405020304" pitchFamily="18" charset="0"/>
                <a:cs typeface="Times New Roman" panose="02020603050405020304" pitchFamily="18" charset="0"/>
              </a:rPr>
              <a:t>JavaFX</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for easy use.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Aims to reduce manual work, save time, and improve emergency blood availability.</a:t>
            </a:r>
          </a:p>
          <a:p>
            <a:pPr>
              <a:buFont typeface="Arial" panose="020B0604020202020204" pitchFamily="34" charset="0"/>
              <a:buChar char="•"/>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1469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4BB6BB-2415-497F-4C70-6A70B013581E}"/>
              </a:ext>
            </a:extLst>
          </p:cNvPr>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Java Programming  - Concepts Used</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 xmlns:a16="http://schemas.microsoft.com/office/drawing/2014/main" id="{F55EE2C0-12B3-E6E1-5A16-64A0C6634B04}"/>
              </a:ext>
            </a:extLst>
          </p:cNvPr>
          <p:cNvSpPr>
            <a:spLocks noGrp="1"/>
          </p:cNvSpPr>
          <p:nvPr>
            <p:ph type="ftr" sz="quarter" idx="11"/>
          </p:nvPr>
        </p:nvSpPr>
        <p:spPr>
          <a:xfrm>
            <a:off x="2514600" y="4767263"/>
            <a:ext cx="4035552"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sp>
        <p:nvSpPr>
          <p:cNvPr id="4" name="Rectangle 1"/>
          <p:cNvSpPr>
            <a:spLocks noGrp="1" noChangeArrowheads="1"/>
          </p:cNvSpPr>
          <p:nvPr>
            <p:ph sz="quarter" idx="1"/>
          </p:nvPr>
        </p:nvSpPr>
        <p:spPr bwMode="auto">
          <a:xfrm>
            <a:off x="710961" y="1621768"/>
            <a:ext cx="396262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Object-Oriented Programming (OOP)</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Classes and Objects</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Encapsulation</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JDBC (Java Database Connectivity)</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GUI (Swing / </a:t>
            </a:r>
            <a:r>
              <a:rPr kumimoji="0" lang="en-US" sz="18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JavaFX</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Exception Handling</a:t>
            </a:r>
          </a:p>
        </p:txBody>
      </p:sp>
    </p:spTree>
    <p:extLst>
      <p:ext uri="{BB962C8B-B14F-4D97-AF65-F5344CB8AC3E}">
        <p14:creationId xmlns:p14="http://schemas.microsoft.com/office/powerpoint/2010/main" val="330055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B7FB43-016D-4DDB-52D8-BCF00F70ED73}"/>
              </a:ext>
            </a:extLst>
          </p:cNvPr>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 xmlns:a16="http://schemas.microsoft.com/office/drawing/2014/main" id="{AFAF8B42-1B21-5C6F-AF75-1ADAF6ED8B08}"/>
              </a:ext>
            </a:extLst>
          </p:cNvPr>
          <p:cNvSpPr>
            <a:spLocks noGrp="1"/>
          </p:cNvSpPr>
          <p:nvPr>
            <p:ph type="ftr" sz="quarter" idx="11"/>
          </p:nvPr>
        </p:nvSpPr>
        <p:spPr>
          <a:xfrm>
            <a:off x="2667000" y="4781550"/>
            <a:ext cx="4035552" cy="228599"/>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sp>
        <p:nvSpPr>
          <p:cNvPr id="7" name="Content Placeholder 6"/>
          <p:cNvSpPr>
            <a:spLocks noGrp="1"/>
          </p:cNvSpPr>
          <p:nvPr>
            <p:ph sz="quarter" idx="1"/>
          </p:nvPr>
        </p:nvSpPr>
        <p:spPr>
          <a:xfrm>
            <a:off x="457200" y="1120967"/>
            <a:ext cx="8275834" cy="3646295"/>
          </a:xfrm>
        </p:spPr>
        <p:txBody>
          <a:bodyPr>
            <a:normAutofit/>
          </a:bodyPr>
          <a:lstStyle/>
          <a:p>
            <a:pPr marL="0" indent="0" algn="ctr">
              <a:buNone/>
            </a:pPr>
            <a:r>
              <a:rPr lang="en-US" sz="2000" dirty="0">
                <a:latin typeface="Times New Roman" panose="02020603050405020304" pitchFamily="18" charset="0"/>
                <a:cs typeface="Times New Roman" panose="02020603050405020304" pitchFamily="18" charset="0"/>
              </a:rPr>
              <a:t> Blood Donation Management System</a:t>
            </a:r>
          </a:p>
          <a:p>
            <a:pPr marL="0" indent="0" algn="ctr">
              <a:buNone/>
            </a:pPr>
            <a:r>
              <a:rPr lang="en-US" sz="2000" dirty="0">
                <a:latin typeface="Times New Roman" panose="02020603050405020304" pitchFamily="18" charset="0"/>
                <a:cs typeface="Times New Roman" panose="02020603050405020304" pitchFamily="18" charset="0"/>
              </a:rPr>
              <a:t> </a:t>
            </a:r>
          </a:p>
          <a:p>
            <a:pPr marL="0" indent="0" algn="ctr">
              <a:buNone/>
            </a:pPr>
            <a:r>
              <a:rPr lang="en-US" sz="2000" dirty="0">
                <a:latin typeface="Times New Roman" panose="02020603050405020304" pitchFamily="18" charset="0"/>
                <a:cs typeface="Times New Roman" panose="02020603050405020304" pitchFamily="18" charset="0"/>
              </a:rPr>
              <a:t>      </a:t>
            </a:r>
          </a:p>
          <a:p>
            <a:pPr marL="0" indent="0" algn="ctr">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  Presentation Layer       Business Layer          Data Layer</a:t>
            </a:r>
          </a:p>
          <a:p>
            <a:pPr marL="0" indent="0" algn="ctr">
              <a:buNone/>
            </a:pPr>
            <a:r>
              <a:rPr lang="en-US" sz="2000" dirty="0">
                <a:latin typeface="Times New Roman" panose="02020603050405020304" pitchFamily="18" charset="0"/>
                <a:cs typeface="Times New Roman" panose="02020603050405020304" pitchFamily="18" charset="0"/>
              </a:rPr>
              <a:t>   (GUI - Swing/FX)       (Java OOP Logic)         (</a:t>
            </a:r>
            <a:r>
              <a:rPr lang="en-US" sz="2000" dirty="0" smtClean="0">
                <a:latin typeface="Times New Roman" panose="02020603050405020304" pitchFamily="18" charset="0"/>
                <a:cs typeface="Times New Roman" panose="02020603050405020304" pitchFamily="18" charset="0"/>
              </a:rPr>
              <a:t>MySQL DB)</a:t>
            </a:r>
          </a:p>
          <a:p>
            <a:pPr marL="0" indent="0" algn="ctr">
              <a:buNone/>
            </a:pPr>
            <a:r>
              <a:rPr lang="en-US" sz="2000" dirty="0" smtClean="0">
                <a:latin typeface="Times New Roman" panose="02020603050405020304" pitchFamily="18" charset="0"/>
                <a:cs typeface="Times New Roman" panose="02020603050405020304" pitchFamily="18" charset="0"/>
              </a:rPr>
              <a:t>                                                </a:t>
            </a:r>
          </a:p>
          <a:p>
            <a:pPr marL="0" indent="0" algn="ctr">
              <a:buNone/>
            </a:pP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cxnSp>
        <p:nvCxnSpPr>
          <p:cNvPr id="15" name="Straight Arrow Connector 14"/>
          <p:cNvCxnSpPr/>
          <p:nvPr/>
        </p:nvCxnSpPr>
        <p:spPr>
          <a:xfrm>
            <a:off x="4684776" y="1490299"/>
            <a:ext cx="0" cy="492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912484" y="1982912"/>
            <a:ext cx="35445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912484" y="1982912"/>
            <a:ext cx="0" cy="404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684776" y="1982912"/>
            <a:ext cx="0" cy="404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438019" y="1982912"/>
            <a:ext cx="12700" cy="404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756881" y="3380198"/>
            <a:ext cx="0" cy="1216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173542" y="3400746"/>
            <a:ext cx="20549" cy="11964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450719" y="3400746"/>
            <a:ext cx="0" cy="1216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756881" y="3616503"/>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756881" y="4009233"/>
            <a:ext cx="1952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767155" y="4585185"/>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4194091" y="3616503"/>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4194091" y="4597172"/>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4194091" y="4009233"/>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450718" y="4028069"/>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450719" y="3602804"/>
            <a:ext cx="184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438019" y="4617720"/>
            <a:ext cx="184935"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999180" y="3442495"/>
            <a:ext cx="1335640" cy="369332"/>
          </a:xfrm>
          <a:prstGeom prst="rect">
            <a:avLst/>
          </a:prstGeom>
          <a:noFill/>
        </p:spPr>
        <p:txBody>
          <a:bodyPr wrap="square" rtlCol="0">
            <a:spAutoFit/>
          </a:bodyPr>
          <a:lstStyle/>
          <a:p>
            <a:r>
              <a:rPr lang="en-US" dirty="0" smtClean="0"/>
              <a:t>Donor form</a:t>
            </a:r>
            <a:endParaRPr lang="en-IN" dirty="0"/>
          </a:p>
        </p:txBody>
      </p:sp>
      <p:sp>
        <p:nvSpPr>
          <p:cNvPr id="65" name="TextBox 64"/>
          <p:cNvSpPr txBox="1"/>
          <p:nvPr/>
        </p:nvSpPr>
        <p:spPr>
          <a:xfrm>
            <a:off x="2014853" y="3843403"/>
            <a:ext cx="1581438" cy="369332"/>
          </a:xfrm>
          <a:prstGeom prst="rect">
            <a:avLst/>
          </a:prstGeom>
          <a:noFill/>
        </p:spPr>
        <p:txBody>
          <a:bodyPr wrap="square" rtlCol="0">
            <a:spAutoFit/>
          </a:bodyPr>
          <a:lstStyle/>
          <a:p>
            <a:r>
              <a:rPr lang="en-US" dirty="0" smtClean="0"/>
              <a:t>Hospital form</a:t>
            </a:r>
            <a:endParaRPr lang="en-IN" dirty="0"/>
          </a:p>
        </p:txBody>
      </p:sp>
      <p:sp>
        <p:nvSpPr>
          <p:cNvPr id="66" name="TextBox 65"/>
          <p:cNvSpPr txBox="1"/>
          <p:nvPr/>
        </p:nvSpPr>
        <p:spPr>
          <a:xfrm>
            <a:off x="1988455" y="4328922"/>
            <a:ext cx="1581438" cy="369332"/>
          </a:xfrm>
          <a:prstGeom prst="rect">
            <a:avLst/>
          </a:prstGeom>
          <a:noFill/>
        </p:spPr>
        <p:txBody>
          <a:bodyPr wrap="square" rtlCol="0">
            <a:spAutoFit/>
          </a:bodyPr>
          <a:lstStyle/>
          <a:p>
            <a:r>
              <a:rPr lang="en-US" dirty="0" smtClean="0"/>
              <a:t>Admin panel</a:t>
            </a:r>
            <a:endParaRPr lang="en-IN" dirty="0"/>
          </a:p>
        </p:txBody>
      </p:sp>
      <p:sp>
        <p:nvSpPr>
          <p:cNvPr id="68" name="TextBox 67"/>
          <p:cNvSpPr txBox="1"/>
          <p:nvPr/>
        </p:nvSpPr>
        <p:spPr>
          <a:xfrm>
            <a:off x="4391726" y="3438716"/>
            <a:ext cx="1442663" cy="369332"/>
          </a:xfrm>
          <a:prstGeom prst="rect">
            <a:avLst/>
          </a:prstGeom>
          <a:noFill/>
        </p:spPr>
        <p:txBody>
          <a:bodyPr wrap="square" rtlCol="0">
            <a:spAutoFit/>
          </a:bodyPr>
          <a:lstStyle/>
          <a:p>
            <a:r>
              <a:rPr lang="en-US" dirty="0" smtClean="0"/>
              <a:t>Donor class</a:t>
            </a:r>
            <a:endParaRPr lang="en-IN" dirty="0"/>
          </a:p>
        </p:txBody>
      </p:sp>
      <p:sp>
        <p:nvSpPr>
          <p:cNvPr id="70" name="TextBox 69"/>
          <p:cNvSpPr txBox="1"/>
          <p:nvPr/>
        </p:nvSpPr>
        <p:spPr>
          <a:xfrm>
            <a:off x="4379026" y="3832261"/>
            <a:ext cx="1330721" cy="369332"/>
          </a:xfrm>
          <a:prstGeom prst="rect">
            <a:avLst/>
          </a:prstGeom>
          <a:noFill/>
        </p:spPr>
        <p:txBody>
          <a:bodyPr wrap="square" rtlCol="0">
            <a:spAutoFit/>
          </a:bodyPr>
          <a:lstStyle/>
          <a:p>
            <a:r>
              <a:rPr lang="en-US" dirty="0" smtClean="0"/>
              <a:t>Blood stock</a:t>
            </a:r>
            <a:endParaRPr lang="en-IN" dirty="0"/>
          </a:p>
        </p:txBody>
      </p:sp>
      <p:sp>
        <p:nvSpPr>
          <p:cNvPr id="72" name="TextBox 71"/>
          <p:cNvSpPr txBox="1"/>
          <p:nvPr/>
        </p:nvSpPr>
        <p:spPr>
          <a:xfrm>
            <a:off x="4368750" y="4309444"/>
            <a:ext cx="1766830" cy="369332"/>
          </a:xfrm>
          <a:prstGeom prst="rect">
            <a:avLst/>
          </a:prstGeom>
          <a:noFill/>
        </p:spPr>
        <p:txBody>
          <a:bodyPr wrap="none" rtlCol="0">
            <a:spAutoFit/>
          </a:bodyPr>
          <a:lstStyle/>
          <a:p>
            <a:r>
              <a:rPr lang="en-US" dirty="0" smtClean="0"/>
              <a:t>Request handling</a:t>
            </a:r>
            <a:endParaRPr lang="en-IN" dirty="0"/>
          </a:p>
        </p:txBody>
      </p:sp>
      <p:sp>
        <p:nvSpPr>
          <p:cNvPr id="73" name="TextBox 72"/>
          <p:cNvSpPr txBox="1"/>
          <p:nvPr/>
        </p:nvSpPr>
        <p:spPr>
          <a:xfrm>
            <a:off x="6610751" y="3438716"/>
            <a:ext cx="1500027" cy="369332"/>
          </a:xfrm>
          <a:prstGeom prst="rect">
            <a:avLst/>
          </a:prstGeom>
          <a:noFill/>
        </p:spPr>
        <p:txBody>
          <a:bodyPr wrap="square" rtlCol="0">
            <a:spAutoFit/>
          </a:bodyPr>
          <a:lstStyle/>
          <a:p>
            <a:r>
              <a:rPr lang="en-US" dirty="0" smtClean="0"/>
              <a:t>Donor table</a:t>
            </a:r>
            <a:endParaRPr lang="en-IN" dirty="0"/>
          </a:p>
        </p:txBody>
      </p:sp>
      <p:sp>
        <p:nvSpPr>
          <p:cNvPr id="74" name="TextBox 73"/>
          <p:cNvSpPr txBox="1"/>
          <p:nvPr/>
        </p:nvSpPr>
        <p:spPr>
          <a:xfrm>
            <a:off x="6626611" y="3874714"/>
            <a:ext cx="1500027" cy="369332"/>
          </a:xfrm>
          <a:prstGeom prst="rect">
            <a:avLst/>
          </a:prstGeom>
          <a:noFill/>
        </p:spPr>
        <p:txBody>
          <a:bodyPr wrap="square" rtlCol="0">
            <a:spAutoFit/>
          </a:bodyPr>
          <a:lstStyle/>
          <a:p>
            <a:r>
              <a:rPr lang="en-US" dirty="0" smtClean="0"/>
              <a:t>Blood table</a:t>
            </a:r>
            <a:endParaRPr lang="en-IN" dirty="0"/>
          </a:p>
        </p:txBody>
      </p:sp>
      <p:sp>
        <p:nvSpPr>
          <p:cNvPr id="75" name="TextBox 74"/>
          <p:cNvSpPr txBox="1"/>
          <p:nvPr/>
        </p:nvSpPr>
        <p:spPr>
          <a:xfrm>
            <a:off x="6610750" y="4330974"/>
            <a:ext cx="1500027" cy="369332"/>
          </a:xfrm>
          <a:prstGeom prst="rect">
            <a:avLst/>
          </a:prstGeom>
          <a:noFill/>
        </p:spPr>
        <p:txBody>
          <a:bodyPr wrap="square" rtlCol="0">
            <a:spAutoFit/>
          </a:bodyPr>
          <a:lstStyle/>
          <a:p>
            <a:r>
              <a:rPr lang="en-US" dirty="0" smtClean="0"/>
              <a:t>Request table</a:t>
            </a:r>
            <a:endParaRPr lang="en-IN" dirty="0"/>
          </a:p>
        </p:txBody>
      </p:sp>
    </p:spTree>
    <p:extLst>
      <p:ext uri="{BB962C8B-B14F-4D97-AF65-F5344CB8AC3E}">
        <p14:creationId xmlns:p14="http://schemas.microsoft.com/office/powerpoint/2010/main" val="777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863E8D-3F63-8ED5-2478-E9C00D1B15F2}"/>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t>
            </a:r>
            <a:r>
              <a:rPr lang="en-IN" b="1" dirty="0" smtClean="0">
                <a:solidFill>
                  <a:schemeClr val="tx1"/>
                </a:solidFill>
                <a:latin typeface="Times New Roman" pitchFamily="18" charset="0"/>
                <a:cs typeface="Times New Roman" pitchFamily="18" charset="0"/>
              </a:rPr>
              <a:t>Architecture - </a:t>
            </a:r>
            <a:r>
              <a:rPr lang="en-IN" b="1" dirty="0">
                <a:solidFill>
                  <a:schemeClr val="tx1"/>
                </a:solidFill>
                <a:latin typeface="Times New Roman" pitchFamily="18" charset="0"/>
                <a:cs typeface="Times New Roman" pitchFamily="18" charset="0"/>
              </a:rPr>
              <a:t>Description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 xmlns:a16="http://schemas.microsoft.com/office/drawing/2014/main" id="{10EB4194-110F-D7FD-0DF4-398A93C90EAF}"/>
              </a:ext>
            </a:extLst>
          </p:cNvPr>
          <p:cNvSpPr>
            <a:spLocks noGrp="1"/>
          </p:cNvSpPr>
          <p:nvPr>
            <p:ph type="ftr" sz="quarter" idx="11"/>
          </p:nvPr>
        </p:nvSpPr>
        <p:spPr>
          <a:xfrm>
            <a:off x="2743200" y="4767263"/>
            <a:ext cx="4191000"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9C1B7B88-F6CF-BB6D-6BBC-27F7045B413C}"/>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
        <p:nvSpPr>
          <p:cNvPr id="22" name="Rectangle 13"/>
          <p:cNvSpPr>
            <a:spLocks noChangeArrowheads="1"/>
          </p:cNvSpPr>
          <p:nvPr/>
        </p:nvSpPr>
        <p:spPr bwMode="auto">
          <a:xfrm>
            <a:off x="688369" y="-2631553"/>
            <a:ext cx="871762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
                <a:schemeClr val="bg2">
                  <a:lumMod val="50000"/>
                </a:schemeClr>
              </a:buClr>
              <a:buSzTx/>
              <a:buFontTx/>
              <a:buChar char="•"/>
              <a:tabLst/>
            </a:pPr>
            <a:r>
              <a:rPr lang="en-US" b="1" dirty="0" smtClean="0">
                <a:latin typeface="Times New Roman" panose="02020603050405020304" pitchFamily="18" charset="0"/>
                <a:cs typeface="Times New Roman" panose="02020603050405020304" pitchFamily="18" charset="0"/>
              </a:rPr>
              <a:t>Pr</a:t>
            </a: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esentation Layer:</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GUI forms for Donor, Hospital, Admin.</a:t>
            </a:r>
          </a:p>
          <a:p>
            <a:pPr marL="0" marR="0" lvl="0" indent="0" algn="l" defTabSz="914400" rtl="0" eaLnBrk="0" fontAlgn="base" latinLnBrk="0" hangingPunct="0">
              <a:lnSpc>
                <a:spcPct val="100000"/>
              </a:lnSpc>
              <a:spcBef>
                <a:spcPct val="0"/>
              </a:spcBef>
              <a:spcAft>
                <a:spcPct val="0"/>
              </a:spcAft>
              <a:buClr>
                <a:schemeClr val="bg2">
                  <a:lumMod val="50000"/>
                </a:schemeClr>
              </a:buClr>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Business Layer:</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Classes like Donor, </a:t>
            </a:r>
            <a:r>
              <a:rPr kumimoji="0" 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BloodStock</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logic for handling requests.</a:t>
            </a:r>
          </a:p>
          <a:p>
            <a:pPr marL="0" marR="0" lvl="0" indent="0" algn="l" defTabSz="914400" rtl="0" eaLnBrk="0" fontAlgn="base" latinLnBrk="0" hangingPunct="0">
              <a:lnSpc>
                <a:spcPct val="100000"/>
              </a:lnSpc>
              <a:spcBef>
                <a:spcPct val="0"/>
              </a:spcBef>
              <a:spcAft>
                <a:spcPct val="0"/>
              </a:spcAft>
              <a:buClr>
                <a:schemeClr val="bg2">
                  <a:lumMod val="50000"/>
                </a:schemeClr>
              </a:buClr>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Layer:</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MySQL database tables storing donors, blood stock, and requests.</a:t>
            </a:r>
          </a:p>
          <a:p>
            <a:pPr marL="0" marR="0" lvl="0" indent="0" algn="l" defTabSz="914400" rtl="0" eaLnBrk="0" fontAlgn="base" latinLnBrk="0" hangingPunct="0">
              <a:lnSpc>
                <a:spcPct val="100000"/>
              </a:lnSpc>
              <a:spcBef>
                <a:spcPct val="0"/>
              </a:spcBef>
              <a:spcAft>
                <a:spcPct val="0"/>
              </a:spcAft>
              <a:buClr>
                <a:schemeClr val="bg2">
                  <a:lumMod val="50000"/>
                </a:schemeClr>
              </a:buClr>
              <a:buSzTx/>
              <a:buFontTx/>
              <a:buNone/>
              <a:tabLst/>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20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0E8CD-B6C3-C340-0D91-BCD437C40468}"/>
              </a:ext>
            </a:extLst>
          </p:cNvPr>
          <p:cNvSpPr>
            <a:spLocks noGrp="1"/>
          </p:cNvSpPr>
          <p:nvPr>
            <p:ph type="title"/>
          </p:nvPr>
        </p:nvSpPr>
        <p:spPr>
          <a:xfrm>
            <a:off x="457200" y="13335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5" name="Footer Placeholder 4">
            <a:extLst>
              <a:ext uri="{FF2B5EF4-FFF2-40B4-BE49-F238E27FC236}">
                <a16:creationId xmlns=""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3" name="Content Placeholder 2">
            <a:extLst>
              <a:ext uri="{FF2B5EF4-FFF2-40B4-BE49-F238E27FC236}">
                <a16:creationId xmlns="" xmlns:a16="http://schemas.microsoft.com/office/drawing/2014/main" id="{F498DCEC-7ACA-7687-5074-5D991881E0C3}"/>
              </a:ext>
            </a:extLst>
          </p:cNvPr>
          <p:cNvSpPr>
            <a:spLocks noGrp="1"/>
          </p:cNvSpPr>
          <p:nvPr>
            <p:ph sz="quarter" idx="1"/>
          </p:nvPr>
        </p:nvSpPr>
        <p:spPr>
          <a:xfrm>
            <a:off x="457200" y="1273996"/>
            <a:ext cx="8229600" cy="3343724"/>
          </a:xfrm>
        </p:spPr>
        <p:txBody>
          <a:bodyPr/>
          <a:lstStyle/>
          <a:p>
            <a:pPr>
              <a:buFont typeface="Arial" panose="020B0604020202020204" pitchFamily="34" charset="0"/>
              <a:buChar char="•"/>
            </a:pPr>
            <a:r>
              <a:rPr lang="en-US" sz="1800" dirty="0" smtClean="0">
                <a:latin typeface="Times New Roman" pitchFamily="18" charset="0"/>
                <a:cs typeface="Times New Roman" pitchFamily="18" charset="0"/>
              </a:rPr>
              <a:t>Donor Module</a:t>
            </a:r>
          </a:p>
          <a:p>
            <a:pPr>
              <a:buFont typeface="Arial" panose="020B0604020202020204" pitchFamily="34" charset="0"/>
              <a:buChar char="•"/>
            </a:pPr>
            <a:r>
              <a:rPr lang="en-US" sz="1800" dirty="0" smtClean="0">
                <a:latin typeface="Times New Roman" pitchFamily="18" charset="0"/>
                <a:cs typeface="Times New Roman" pitchFamily="18" charset="0"/>
              </a:rPr>
              <a:t>Hospital Module</a:t>
            </a:r>
          </a:p>
          <a:p>
            <a:pPr>
              <a:buFont typeface="Arial" panose="020B0604020202020204" pitchFamily="34" charset="0"/>
              <a:buChar char="•"/>
            </a:pPr>
            <a:r>
              <a:rPr lang="en-US" sz="1800" dirty="0" smtClean="0">
                <a:latin typeface="Times New Roman" pitchFamily="18" charset="0"/>
                <a:cs typeface="Times New Roman" pitchFamily="18" charset="0"/>
              </a:rPr>
              <a:t>Admin Module</a:t>
            </a:r>
          </a:p>
          <a:p>
            <a:pPr>
              <a:buFont typeface="Arial" panose="020B0604020202020204" pitchFamily="34" charset="0"/>
              <a:buChar char="•"/>
            </a:pPr>
            <a:r>
              <a:rPr lang="en-US" sz="1800" dirty="0" smtClean="0">
                <a:latin typeface="Times New Roman" pitchFamily="18" charset="0"/>
                <a:cs typeface="Times New Roman" pitchFamily="18" charset="0"/>
              </a:rPr>
              <a:t>Blood Request Module</a:t>
            </a:r>
          </a:p>
          <a:p>
            <a:pPr>
              <a:buFont typeface="Arial" panose="020B0604020202020204" pitchFamily="34" charset="0"/>
              <a:buChar char="•"/>
            </a:pPr>
            <a:r>
              <a:rPr lang="en-US" sz="1800" dirty="0" smtClean="0">
                <a:latin typeface="Times New Roman" pitchFamily="18" charset="0"/>
                <a:cs typeface="Times New Roman" pitchFamily="18" charset="0"/>
              </a:rPr>
              <a:t>Database Module</a:t>
            </a:r>
          </a:p>
          <a:p>
            <a:pPr>
              <a:buFont typeface="Arial" panose="020B0604020202020204" pitchFamily="34" charset="0"/>
              <a:buChar char="•"/>
            </a:pPr>
            <a:r>
              <a:rPr lang="en-US" sz="1800" dirty="0" smtClean="0">
                <a:latin typeface="Times New Roman" pitchFamily="18" charset="0"/>
                <a:cs typeface="Times New Roman" pitchFamily="18" charset="0"/>
              </a:rPr>
              <a:t>GUI Module</a:t>
            </a:r>
          </a:p>
          <a:p>
            <a:pPr>
              <a:buFont typeface="Arial" panose="020B0604020202020204" pitchFamily="34" charset="0"/>
              <a:buChar char="•"/>
            </a:pPr>
            <a:endParaRPr lang="en-US" sz="1800"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53887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Module Description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
        <p:nvSpPr>
          <p:cNvPr id="11" name="TextBox 10"/>
          <p:cNvSpPr txBox="1"/>
          <p:nvPr/>
        </p:nvSpPr>
        <p:spPr>
          <a:xfrm>
            <a:off x="457200" y="1010093"/>
            <a:ext cx="8229600"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Donor Module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Donor Registration (add new donor)</a:t>
            </a:r>
          </a:p>
          <a:p>
            <a:pPr lvl="1"/>
            <a:r>
              <a:rPr lang="en-IN" dirty="0">
                <a:latin typeface="Times New Roman" panose="02020603050405020304" pitchFamily="18" charset="0"/>
                <a:cs typeface="Times New Roman" panose="02020603050405020304" pitchFamily="18" charset="0"/>
              </a:rPr>
              <a:t>View/Edit Donor Details</a:t>
            </a:r>
          </a:p>
          <a:p>
            <a:pPr lvl="1"/>
            <a:r>
              <a:rPr lang="en-IN" dirty="0">
                <a:latin typeface="Times New Roman" panose="02020603050405020304" pitchFamily="18" charset="0"/>
                <a:cs typeface="Times New Roman" panose="02020603050405020304" pitchFamily="18" charset="0"/>
              </a:rPr>
              <a:t>Track Donation History</a:t>
            </a:r>
          </a:p>
          <a:p>
            <a:r>
              <a:rPr lang="en-IN" b="1" dirty="0">
                <a:latin typeface="Times New Roman" panose="02020603050405020304" pitchFamily="18" charset="0"/>
                <a:cs typeface="Times New Roman" panose="02020603050405020304" pitchFamily="18" charset="0"/>
              </a:rPr>
              <a:t>Hospital Module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Manage Blood Stock (add, update, remove blood units)</a:t>
            </a:r>
          </a:p>
          <a:p>
            <a:pPr lvl="1"/>
            <a:r>
              <a:rPr lang="en-IN" dirty="0">
                <a:latin typeface="Times New Roman" panose="02020603050405020304" pitchFamily="18" charset="0"/>
                <a:cs typeface="Times New Roman" panose="02020603050405020304" pitchFamily="18" charset="0"/>
              </a:rPr>
              <a:t>Request Blood (for patients in need)</a:t>
            </a:r>
          </a:p>
          <a:p>
            <a:pPr lvl="1"/>
            <a:r>
              <a:rPr lang="en-IN" dirty="0">
                <a:latin typeface="Times New Roman" panose="02020603050405020304" pitchFamily="18" charset="0"/>
                <a:cs typeface="Times New Roman" panose="02020603050405020304" pitchFamily="18" charset="0"/>
              </a:rPr>
              <a:t>View Blood Availability</a:t>
            </a:r>
          </a:p>
          <a:p>
            <a:r>
              <a:rPr lang="en-IN" b="1" dirty="0">
                <a:latin typeface="Times New Roman" panose="02020603050405020304" pitchFamily="18" charset="0"/>
                <a:cs typeface="Times New Roman" panose="02020603050405020304" pitchFamily="18" charset="0"/>
              </a:rPr>
              <a:t>Admin Module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Manage Users (Donors &amp; Hospital Staff)</a:t>
            </a:r>
          </a:p>
          <a:p>
            <a:pPr lvl="1"/>
            <a:r>
              <a:rPr lang="en-IN" dirty="0">
                <a:latin typeface="Times New Roman" panose="02020603050405020304" pitchFamily="18" charset="0"/>
                <a:cs typeface="Times New Roman" panose="02020603050405020304" pitchFamily="18" charset="0"/>
              </a:rPr>
              <a:t>Generate Reports (blood stock, donations, requests)</a:t>
            </a:r>
          </a:p>
          <a:p>
            <a:pPr lvl="1"/>
            <a:r>
              <a:rPr lang="en-IN" dirty="0">
                <a:latin typeface="Times New Roman" panose="02020603050405020304" pitchFamily="18" charset="0"/>
                <a:cs typeface="Times New Roman" panose="02020603050405020304" pitchFamily="18" charset="0"/>
              </a:rPr>
              <a:t>Monitor System Activities</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Module Description (Cont..)</a:t>
            </a:r>
            <a:endParaRPr lang="en-US" b="1" dirty="0" smtClean="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p:cNvSpPr>
            <a:spLocks noGrp="1"/>
          </p:cNvSpPr>
          <p:nvPr>
            <p:ph sz="quarter" idx="1"/>
          </p:nvPr>
        </p:nvSpPr>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Blood Request Module</a:t>
            </a:r>
            <a:endParaRPr lang="en-IN" sz="1800" dirty="0">
              <a:latin typeface="Times New Roman" panose="02020603050405020304" pitchFamily="18" charset="0"/>
              <a:cs typeface="Times New Roman" panose="02020603050405020304" pitchFamily="18" charset="0"/>
            </a:endParaRP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Match requests with available blood</a:t>
            </a: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Notify hospital staff or donors</a:t>
            </a:r>
          </a:p>
          <a:p>
            <a:pPr marL="0" indent="0">
              <a:buNone/>
            </a:pPr>
            <a:r>
              <a:rPr lang="en-IN" sz="1800" b="1" dirty="0">
                <a:latin typeface="Times New Roman" panose="02020603050405020304" pitchFamily="18" charset="0"/>
                <a:cs typeface="Times New Roman" panose="02020603050405020304" pitchFamily="18" charset="0"/>
              </a:rPr>
              <a:t>Database Module</a:t>
            </a:r>
            <a:endParaRPr lang="en-IN" sz="1800" dirty="0">
              <a:latin typeface="Times New Roman" panose="02020603050405020304" pitchFamily="18" charset="0"/>
              <a:cs typeface="Times New Roman" panose="02020603050405020304" pitchFamily="18" charset="0"/>
            </a:endParaRP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Connects to </a:t>
            </a:r>
            <a:r>
              <a:rPr lang="en-IN" sz="1800" b="1" dirty="0">
                <a:solidFill>
                  <a:schemeClr val="tx1"/>
                </a:solidFill>
                <a:latin typeface="Times New Roman" panose="02020603050405020304" pitchFamily="18" charset="0"/>
                <a:cs typeface="Times New Roman" panose="02020603050405020304" pitchFamily="18" charset="0"/>
              </a:rPr>
              <a:t>MySQL</a:t>
            </a:r>
            <a:r>
              <a:rPr lang="en-IN" sz="1800" dirty="0">
                <a:solidFill>
                  <a:schemeClr val="tx1"/>
                </a:solidFill>
                <a:latin typeface="Times New Roman" panose="02020603050405020304" pitchFamily="18" charset="0"/>
                <a:cs typeface="Times New Roman" panose="02020603050405020304" pitchFamily="18" charset="0"/>
              </a:rPr>
              <a:t> using </a:t>
            </a:r>
            <a:r>
              <a:rPr lang="en-IN" sz="1800" b="1" dirty="0">
                <a:solidFill>
                  <a:schemeClr val="tx1"/>
                </a:solidFill>
                <a:latin typeface="Times New Roman" panose="02020603050405020304" pitchFamily="18" charset="0"/>
                <a:cs typeface="Times New Roman" panose="02020603050405020304" pitchFamily="18" charset="0"/>
              </a:rPr>
              <a:t>JDBC</a:t>
            </a:r>
            <a:endParaRPr lang="en-IN" sz="1800" dirty="0">
              <a:solidFill>
                <a:schemeClr val="tx1"/>
              </a:solidFill>
              <a:latin typeface="Times New Roman" panose="02020603050405020304" pitchFamily="18" charset="0"/>
              <a:cs typeface="Times New Roman" panose="02020603050405020304" pitchFamily="18" charset="0"/>
            </a:endParaRP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Stores donor info, blood stock, and requests</a:t>
            </a:r>
          </a:p>
          <a:p>
            <a:pPr marL="0" indent="0">
              <a:buNone/>
            </a:pPr>
            <a:r>
              <a:rPr lang="en-IN" sz="1800" b="1" dirty="0">
                <a:latin typeface="Times New Roman" panose="02020603050405020304" pitchFamily="18" charset="0"/>
                <a:cs typeface="Times New Roman" panose="02020603050405020304" pitchFamily="18" charset="0"/>
              </a:rPr>
              <a:t>GUI Module</a:t>
            </a:r>
            <a:endParaRPr lang="en-IN" sz="1800" dirty="0">
              <a:latin typeface="Times New Roman" panose="02020603050405020304" pitchFamily="18" charset="0"/>
              <a:cs typeface="Times New Roman" panose="02020603050405020304" pitchFamily="18" charset="0"/>
            </a:endParaRP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Built using </a:t>
            </a:r>
            <a:r>
              <a:rPr lang="en-IN" sz="1800" b="1" dirty="0">
                <a:solidFill>
                  <a:schemeClr val="tx1"/>
                </a:solidFill>
                <a:latin typeface="Times New Roman" panose="02020603050405020304" pitchFamily="18" charset="0"/>
                <a:cs typeface="Times New Roman" panose="02020603050405020304" pitchFamily="18" charset="0"/>
              </a:rPr>
              <a:t>Swing/</a:t>
            </a:r>
            <a:r>
              <a:rPr lang="en-IN" sz="1800" b="1" dirty="0" err="1">
                <a:solidFill>
                  <a:schemeClr val="tx1"/>
                </a:solidFill>
                <a:latin typeface="Times New Roman" panose="02020603050405020304" pitchFamily="18" charset="0"/>
                <a:cs typeface="Times New Roman" panose="02020603050405020304" pitchFamily="18" charset="0"/>
              </a:rPr>
              <a:t>JavaFX</a:t>
            </a:r>
            <a:endParaRPr lang="en-IN" sz="1800" dirty="0">
              <a:solidFill>
                <a:schemeClr val="tx1"/>
              </a:solidFill>
              <a:latin typeface="Times New Roman" panose="02020603050405020304" pitchFamily="18" charset="0"/>
              <a:cs typeface="Times New Roman" panose="02020603050405020304" pitchFamily="18" charset="0"/>
            </a:endParaRPr>
          </a:p>
          <a:p>
            <a:pPr marL="274320" lvl="1" indent="0">
              <a:buNone/>
            </a:pPr>
            <a:r>
              <a:rPr lang="en-IN" sz="1800" dirty="0">
                <a:solidFill>
                  <a:schemeClr val="tx1"/>
                </a:solidFill>
                <a:latin typeface="Times New Roman" panose="02020603050405020304" pitchFamily="18" charset="0"/>
                <a:cs typeface="Times New Roman" panose="02020603050405020304" pitchFamily="18" charset="0"/>
              </a:rPr>
              <a:t>Provides forms, buttons, tables for user interaction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Results and Discussion</a:t>
            </a:r>
            <a:endParaRPr lang="en-US" b="1" dirty="0" smtClean="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535251" y="4818688"/>
            <a:ext cx="3505200" cy="274320"/>
          </a:xfrm>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
        <p:nvSpPr>
          <p:cNvPr id="6" name="Rectangle 1"/>
          <p:cNvSpPr>
            <a:spLocks noGrp="1" noChangeArrowheads="1"/>
          </p:cNvSpPr>
          <p:nvPr>
            <p:ph sz="quarter" idx="1"/>
          </p:nvPr>
        </p:nvSpPr>
        <p:spPr bwMode="auto">
          <a:xfrm>
            <a:off x="605901" y="1415881"/>
            <a:ext cx="804829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Donor registration and blood stock management work successfully.</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Blood requests are matched with available units quickly.</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Admin can monitor donors, hospitals, and generate reports.</a:t>
            </a:r>
          </a:p>
          <a:p>
            <a:pPr marR="0" lvl="0" algn="l" defTabSz="914400" rtl="0" eaLnBrk="0" fontAlgn="base" latinLnBrk="0" hangingPunct="0">
              <a:lnSpc>
                <a:spcPct val="100000"/>
              </a:lnSpc>
              <a:spcBef>
                <a:spcPct val="0"/>
              </a:spcBef>
              <a:spcAft>
                <a:spcPct val="0"/>
              </a:spcAft>
              <a:buClr>
                <a:schemeClr val="bg2">
                  <a:lumMod val="50000"/>
                </a:schemeClr>
              </a:buClr>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User-friendly GUI and database connectivity (MySQL + JDBC) function properly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Results and Discussion (Cont..)</a:t>
            </a:r>
            <a:endParaRPr lang="en-US" b="1" dirty="0" smtClean="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
        <p:nvSpPr>
          <p:cNvPr id="5" name="Content Placeholder 4"/>
          <p:cNvSpPr>
            <a:spLocks noGrp="1"/>
          </p:cNvSpPr>
          <p:nvPr>
            <p:ph sz="quarter" idx="1"/>
          </p:nvPr>
        </p:nvSpPr>
        <p:spPr>
          <a:xfrm>
            <a:off x="457200" y="1284270"/>
            <a:ext cx="8229600" cy="3333450"/>
          </a:xfrm>
        </p:spPr>
        <p:txBody>
          <a:bodyPr>
            <a:normAutofit/>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Reduces manual work and improves accuracy.</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Ensures faster response in emergencies.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OOP design makes the system organized and maintainable.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be enhanced in the future with notifications and advanced reports.</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smtClean="0">
                <a:solidFill>
                  <a:schemeClr val="tx1"/>
                </a:solidFill>
                <a:latin typeface="Times New Roman" pitchFamily="18" charset="0"/>
                <a:cs typeface="Times New Roman" pitchFamily="18" charset="0"/>
              </a:rPr>
              <a:t>Conclusion</a:t>
            </a:r>
            <a:endParaRPr lang="en-US" b="1" dirty="0" smtClean="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mtClean="0"/>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5" name="Content Placeholder 4"/>
          <p:cNvSpPr>
            <a:spLocks noGrp="1"/>
          </p:cNvSpPr>
          <p:nvPr>
            <p:ph sz="quarter" idx="1"/>
          </p:nvPr>
        </p:nvSpPr>
        <p:spPr>
          <a:xfrm>
            <a:off x="457200" y="1356188"/>
            <a:ext cx="8229600" cy="3261531"/>
          </a:xfrm>
        </p:spPr>
        <p:txBody>
          <a:bodyPr>
            <a:normAutofit/>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Blood Donation Management System efficiently manages donors, blood stock, and requests. It reduces manual work, ensures accurate records, and provides quick access to blood in emergencies. The system is user-friendly, reliable, and can be easily maintained or enhanced in the future.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B41377AE-5B94-C1F2-E1C0-17E77BBFB9DA}"/>
              </a:ext>
            </a:extLst>
          </p:cNvPr>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itchFamily="18" charset="0"/>
                <a:cs typeface="Times New Roman" pitchFamily="18" charset="0"/>
              </a:rPr>
              <a:t>Thank  You</a:t>
            </a:r>
            <a:endParaRPr lang="en-IN" sz="4000" b="1" dirty="0">
              <a:solidFill>
                <a:schemeClr val="tx1"/>
              </a:solidFill>
              <a:latin typeface="Times New Roman" pitchFamily="18" charset="0"/>
              <a:cs typeface="Times New Roman" pitchFamily="18" charset="0"/>
            </a:endParaRPr>
          </a:p>
        </p:txBody>
      </p:sp>
      <p:sp>
        <p:nvSpPr>
          <p:cNvPr id="3" name="Footer Placeholder 2">
            <a:extLst>
              <a:ext uri="{FF2B5EF4-FFF2-40B4-BE49-F238E27FC236}">
                <a16:creationId xmlns="" xmlns:a16="http://schemas.microsoft.com/office/drawing/2014/main" id="{BA3FD61F-805B-E389-F2B7-0A0B2F9D8150}"/>
              </a:ext>
            </a:extLst>
          </p:cNvPr>
          <p:cNvSpPr>
            <a:spLocks noGrp="1"/>
          </p:cNvSpPr>
          <p:nvPr>
            <p:ph type="ftr" sz="quarter" idx="11"/>
          </p:nvPr>
        </p:nvSpPr>
        <p:spPr>
          <a:xfrm>
            <a:off x="2971800" y="4767263"/>
            <a:ext cx="4111752" cy="376237"/>
          </a:xfrm>
        </p:spPr>
        <p:txBody>
          <a:bodyPr/>
          <a:lstStyle/>
          <a:p>
            <a:pPr>
              <a:defRPr/>
            </a:pPr>
            <a:r>
              <a:rPr lang="en-US" sz="1200" smtClean="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15</a:t>
            </a:fld>
            <a:endParaRPr lang="en-US" altLang="en-US" dirty="0"/>
          </a:p>
        </p:txBody>
      </p:sp>
      <p:sp>
        <p:nvSpPr>
          <p:cNvPr id="6" name="Title 1">
            <a:extLst>
              <a:ext uri="{FF2B5EF4-FFF2-40B4-BE49-F238E27FC236}">
                <a16:creationId xmlns="" xmlns:a16="http://schemas.microsoft.com/office/drawing/2014/main" id="{C622646B-3CDF-929A-2318-D91165119579}"/>
              </a:ext>
            </a:extLst>
          </p:cNvPr>
          <p:cNvSpPr txBox="1">
            <a:spLocks/>
          </p:cNvSpPr>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Any queries??? </a:t>
            </a:r>
          </a:p>
        </p:txBody>
      </p:sp>
    </p:spTree>
    <p:extLst>
      <p:ext uri="{BB962C8B-B14F-4D97-AF65-F5344CB8AC3E}">
        <p14:creationId xmlns:p14="http://schemas.microsoft.com/office/powerpoint/2010/main" val="4281137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723</Words>
  <Application>Microsoft Office PowerPoint</Application>
  <PresentationFormat>On-screen Show (16:9)</PresentationFormat>
  <Paragraphs>160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Bookman Old Style</vt:lpstr>
      <vt:lpstr>Calibri</vt:lpstr>
      <vt:lpstr>Gill Sans MT</vt:lpstr>
      <vt:lpstr>Times New Roman</vt:lpstr>
      <vt:lpstr>Wingdings</vt:lpstr>
      <vt:lpstr>Wingdings 3</vt:lpstr>
      <vt:lpstr>Origin</vt:lpstr>
      <vt:lpstr>EGB1201 – JAVA PROGRAMMING PROJECT REVIEW-2</vt:lpstr>
      <vt:lpstr>Title of the Project</vt:lpstr>
      <vt:lpstr>Abstract </vt:lpstr>
      <vt:lpstr>Abstract with CO/PO Mapping</vt:lpstr>
      <vt:lpstr>Introduction</vt:lpstr>
      <vt:lpstr>Java Programming  - Concepts Used</vt:lpstr>
      <vt:lpstr>Proposed Architecture</vt:lpstr>
      <vt:lpstr>Proposed Architecture - Description</vt:lpstr>
      <vt:lpstr>List of Modules</vt:lpstr>
      <vt:lpstr>Module Description</vt:lpstr>
      <vt:lpstr>Module Description (Cont..)</vt:lpstr>
      <vt:lpstr>Results and Discussion</vt:lpstr>
      <vt:lpstr>Results and Discussion (Cont..)</vt:lpstr>
      <vt:lpstr>Conclusion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EGB1201 – JAVA PROGRAMMING PROJECT REVIEW-2</dc:title>
  <dc:creator>Ponthamarai S</dc:creator>
  <cp:lastModifiedBy>Welcome</cp:lastModifiedBy>
  <cp:revision>10</cp:revision>
  <dcterms:modified xsi:type="dcterms:W3CDTF">2025-11-03T17:46:23Z</dcterms:modified>
</cp:coreProperties>
</file>